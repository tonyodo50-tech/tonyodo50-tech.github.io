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Frame the course as practical training for building CEO-ready visuals.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goal, audience and outcome of the course before diving into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principles are the non-negotiables the whole course builds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1: get analysts thinking about what the CEO actually needs, not just what is interesting.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 covers the short chart palette and what to avoid.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3 is the fast rules that make a chart clear: insight titles, direct labels, one color, sorted bars.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4: build a one-page dashboard analysts can hand a CEO.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5 turns visuals into a coherent three-act story with a headline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6 is tool-specific guidance for teams building in Power 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page templates cover most executive dashboard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what learners can do by the end of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practical next step: apply the templates to a live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363218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6E93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EXECUTIVE COMMUNICATION TRAINING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3972818"/>
            <a:ext cx="14716125" cy="1642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00"/>
              </a:lnSpc>
              <a:buNone/>
            </a:pPr>
            <a:r>
              <a:rPr lang="en-US" sz="58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Building CEO-Ready Dashboards </a:t>
            </a:r>
            <a:pPr algn="l" indent="0" marL="0">
              <a:lnSpc>
                <a:spcPct val="93600"/>
              </a:lnSpc>
              <a:buNone/>
            </a:pPr>
            <a:r>
              <a:rPr lang="en-US" sz="5850" b="1" dirty="0">
                <a:solidFill>
                  <a:srgbClr val="6E93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&amp; Presentations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047750" y="5958582"/>
            <a:ext cx="11772900" cy="1003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C7D2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Turning raw data into visuals a CEO can scan in thirty seconds.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2A3D5C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9245600"/>
            <a:ext cx="731340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FA3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Six modules · Analysts, operations, finance &amp; strategy teams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515207" y="9245600"/>
            <a:ext cx="299754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FA3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Power BI · Excel · Slides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2E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COURSE OVERVIEW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09700"/>
            <a:ext cx="1781175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Course Purpose &amp; Audience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047750" y="2692400"/>
            <a:ext cx="4889500" cy="25400"/>
          </a:xfrm>
          <a:prstGeom prst="rect">
            <a:avLst/>
          </a:prstGeom>
          <a:solidFill>
            <a:srgbClr val="2E6BFF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3022600"/>
            <a:ext cx="609600" cy="609600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6" name="Shape 4"/>
          <p:cNvSpPr/>
          <p:nvPr/>
        </p:nvSpPr>
        <p:spPr>
          <a:xfrm>
            <a:off x="1250950" y="3238500"/>
            <a:ext cx="203200" cy="177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3860800"/>
            <a:ext cx="53784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47750" y="4330700"/>
            <a:ext cx="5036185" cy="1744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2400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Equip analysts and managers to build clear, decision-focused visuals a CEO can grasp in under thirty seconds.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699250" y="2692400"/>
            <a:ext cx="4889500" cy="25400"/>
          </a:xfrm>
          <a:prstGeom prst="rect">
            <a:avLst/>
          </a:prstGeom>
          <a:solidFill>
            <a:srgbClr val="2E6BFF"/>
          </a:solidFill>
          <a:ln/>
        </p:spPr>
      </p:sp>
      <p:sp>
        <p:nvSpPr>
          <p:cNvPr id="10" name="Shape 8"/>
          <p:cNvSpPr/>
          <p:nvPr/>
        </p:nvSpPr>
        <p:spPr>
          <a:xfrm>
            <a:off x="6699250" y="3022600"/>
            <a:ext cx="609600" cy="609600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11" name="Shape 9"/>
          <p:cNvSpPr/>
          <p:nvPr/>
        </p:nvSpPr>
        <p:spPr>
          <a:xfrm>
            <a:off x="6835775" y="3159125"/>
            <a:ext cx="336550" cy="336550"/>
          </a:xfrm>
          <a:prstGeom prst="ellipse">
            <a:avLst/>
          </a:prstGeom>
          <a:ln w="444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9250" y="3860800"/>
            <a:ext cx="53784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AUDIENCE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699250" y="4330700"/>
            <a:ext cx="5036185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2400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 analysts, operations, finance and strategy teams building dashboards and executive packs.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2350751" y="2692400"/>
            <a:ext cx="4889500" cy="25400"/>
          </a:xfrm>
          <a:prstGeom prst="rect">
            <a:avLst/>
          </a:prstGeom>
          <a:solidFill>
            <a:srgbClr val="2E6B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2350751" y="3022600"/>
            <a:ext cx="609600" cy="609600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16" name="Shape 14"/>
          <p:cNvSpPr/>
          <p:nvPr/>
        </p:nvSpPr>
        <p:spPr>
          <a:xfrm rot="2700000">
            <a:off x="12550775" y="3222625"/>
            <a:ext cx="209550" cy="2095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350751" y="3860800"/>
            <a:ext cx="53784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OUTCOME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350751" y="4330700"/>
            <a:ext cx="5036185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2400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small set of high-impact charts and one-page stories aligned to business priorities.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2E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FOUNDATIONS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09700"/>
            <a:ext cx="1781175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Five Principles for CEO-Ready Visuals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047750" y="2597150"/>
            <a:ext cx="571500" cy="571500"/>
          </a:xfrm>
          <a:prstGeom prst="ellipse">
            <a:avLst/>
          </a:prstGeom>
          <a:solidFill>
            <a:srgbClr val="12203A"/>
          </a:solidFill>
          <a:ln/>
        </p:spPr>
      </p:sp>
      <p:sp>
        <p:nvSpPr>
          <p:cNvPr id="5" name="Shape 3"/>
          <p:cNvSpPr/>
          <p:nvPr/>
        </p:nvSpPr>
        <p:spPr>
          <a:xfrm>
            <a:off x="1257300" y="2806700"/>
            <a:ext cx="152400" cy="152400"/>
          </a:xfrm>
          <a:prstGeom prst="ellipse">
            <a:avLst/>
          </a:prstGeom>
          <a:solidFill>
            <a:srgbClr val="6E93FF"/>
          </a:solidFill>
          <a:ln/>
        </p:spPr>
      </p:sp>
      <p:sp>
        <p:nvSpPr>
          <p:cNvPr id="6" name="Text 4"/>
          <p:cNvSpPr/>
          <p:nvPr/>
        </p:nvSpPr>
        <p:spPr>
          <a:xfrm>
            <a:off x="1885950" y="2597150"/>
            <a:ext cx="662876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Decision-first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885950" y="2984500"/>
            <a:ext cx="662876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visual answers "so what?" and ties to a decision.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25000" y="2597150"/>
            <a:ext cx="571500" cy="571500"/>
          </a:xfrm>
          <a:prstGeom prst="ellipse">
            <a:avLst/>
          </a:prstGeom>
          <a:solidFill>
            <a:srgbClr val="12203A"/>
          </a:solidFill>
          <a:ln/>
        </p:spPr>
      </p:sp>
      <p:sp>
        <p:nvSpPr>
          <p:cNvPr id="9" name="Shape 7"/>
          <p:cNvSpPr/>
          <p:nvPr/>
        </p:nvSpPr>
        <p:spPr>
          <a:xfrm>
            <a:off x="9652000" y="2724150"/>
            <a:ext cx="317500" cy="317500"/>
          </a:xfrm>
          <a:prstGeom prst="ellipse">
            <a:avLst/>
          </a:prstGeom>
          <a:ln w="44450">
            <a:solidFill>
              <a:srgbClr val="6E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63200" y="2597150"/>
            <a:ext cx="529539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message per visual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0363200" y="2984500"/>
            <a:ext cx="529539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chart, one headline, one key takeaway.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47750" y="3683000"/>
            <a:ext cx="571500" cy="571500"/>
          </a:xfrm>
          <a:prstGeom prst="ellipse">
            <a:avLst/>
          </a:prstGeom>
          <a:solidFill>
            <a:srgbClr val="12203A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9675" y="3944938"/>
            <a:ext cx="247650" cy="47625"/>
          </a:xfrm>
          <a:prstGeom prst="rect">
            <a:avLst/>
          </a:prstGeom>
          <a:solidFill>
            <a:srgbClr val="6E93FF"/>
          </a:solidFill>
          <a:ln/>
        </p:spPr>
      </p:sp>
      <p:sp>
        <p:nvSpPr>
          <p:cNvPr id="14" name="Text 12"/>
          <p:cNvSpPr/>
          <p:nvPr/>
        </p:nvSpPr>
        <p:spPr>
          <a:xfrm>
            <a:off x="1885950" y="3683000"/>
            <a:ext cx="656611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Minimal cognitive load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885950" y="4070350"/>
            <a:ext cx="656611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Reduce clutter, limit colors, avoid needless complexity.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25000" y="3683000"/>
            <a:ext cx="571500" cy="571500"/>
          </a:xfrm>
          <a:prstGeom prst="ellipse">
            <a:avLst/>
          </a:prstGeom>
          <a:solidFill>
            <a:srgbClr val="12203A"/>
          </a:solidFill>
          <a:ln/>
        </p:spPr>
      </p:sp>
      <p:sp>
        <p:nvSpPr>
          <p:cNvPr id="17" name="Shape 15"/>
          <p:cNvSpPr/>
          <p:nvPr/>
        </p:nvSpPr>
        <p:spPr>
          <a:xfrm>
            <a:off x="9686925" y="3897313"/>
            <a:ext cx="247650" cy="47625"/>
          </a:xfrm>
          <a:prstGeom prst="rect">
            <a:avLst/>
          </a:prstGeom>
          <a:solidFill>
            <a:srgbClr val="6E9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9686925" y="3992563"/>
            <a:ext cx="247650" cy="47625"/>
          </a:xfrm>
          <a:prstGeom prst="rect">
            <a:avLst/>
          </a:prstGeom>
          <a:solidFill>
            <a:srgbClr val="6E93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363200" y="3683000"/>
            <a:ext cx="641965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Consistent language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0363200" y="4070350"/>
            <a:ext cx="641965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Same KPIs, timeframes and definitions across slides.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47750" y="4768850"/>
            <a:ext cx="571500" cy="571500"/>
          </a:xfrm>
          <a:prstGeom prst="ellipse">
            <a:avLst/>
          </a:prstGeom>
          <a:solidFill>
            <a:srgbClr val="12203A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7763" y="5011738"/>
            <a:ext cx="85725" cy="85725"/>
          </a:xfrm>
          <a:prstGeom prst="ellipse">
            <a:avLst/>
          </a:prstGeom>
          <a:solidFill>
            <a:srgbClr val="6E9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290638" y="5011738"/>
            <a:ext cx="85725" cy="85725"/>
          </a:xfrm>
          <a:prstGeom prst="ellipse">
            <a:avLst/>
          </a:prstGeom>
          <a:solidFill>
            <a:srgbClr val="6E9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433513" y="5011738"/>
            <a:ext cx="85725" cy="85725"/>
          </a:xfrm>
          <a:prstGeom prst="ellipse">
            <a:avLst/>
          </a:prstGeom>
          <a:solidFill>
            <a:srgbClr val="6E93FF"/>
          </a:solidFill>
          <a:ln/>
        </p:spPr>
      </p:sp>
      <p:sp>
        <p:nvSpPr>
          <p:cNvPr id="25" name="Text 23"/>
          <p:cNvSpPr/>
          <p:nvPr/>
        </p:nvSpPr>
        <p:spPr>
          <a:xfrm>
            <a:off x="1885950" y="4768850"/>
            <a:ext cx="623902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Story flow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885950" y="5156200"/>
            <a:ext cx="623902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Context, then insight, then implication, then the ask.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81620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E93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Module 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965549" y="1079500"/>
            <a:ext cx="123279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FA3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30–45 min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1581150"/>
            <a:ext cx="1466850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Thinking Like a CEO with Data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2638425" y="2768600"/>
            <a:ext cx="609600" cy="609600"/>
          </a:xfrm>
          <a:prstGeom prst="ellipse">
            <a:avLst/>
          </a:prstGeom>
          <a:solidFill>
            <a:srgbClr val="1A3560"/>
          </a:solidFill>
          <a:ln/>
        </p:spPr>
      </p:sp>
      <p:sp>
        <p:nvSpPr>
          <p:cNvPr id="6" name="Shape 4"/>
          <p:cNvSpPr/>
          <p:nvPr/>
        </p:nvSpPr>
        <p:spPr>
          <a:xfrm>
            <a:off x="2841625" y="2984500"/>
            <a:ext cx="203200" cy="177800"/>
          </a:xfrm>
          <a:prstGeom prst="rect">
            <a:avLst/>
          </a:prstGeom>
          <a:solidFill>
            <a:srgbClr val="6E93FF"/>
          </a:solidFill>
          <a:ln/>
        </p:spPr>
      </p:sp>
      <p:sp>
        <p:nvSpPr>
          <p:cNvPr id="7" name="Text 5"/>
          <p:cNvSpPr/>
          <p:nvPr/>
        </p:nvSpPr>
        <p:spPr>
          <a:xfrm>
            <a:off x="858203" y="3530600"/>
            <a:ext cx="417004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Growth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772275" y="2768600"/>
            <a:ext cx="609600" cy="609600"/>
          </a:xfrm>
          <a:prstGeom prst="ellipse">
            <a:avLst/>
          </a:prstGeom>
          <a:solidFill>
            <a:srgbClr val="1A3560"/>
          </a:solidFill>
          <a:ln/>
        </p:spPr>
      </p:sp>
      <p:sp>
        <p:nvSpPr>
          <p:cNvPr id="9" name="Shape 7"/>
          <p:cNvSpPr/>
          <p:nvPr/>
        </p:nvSpPr>
        <p:spPr>
          <a:xfrm>
            <a:off x="6908800" y="2905125"/>
            <a:ext cx="336550" cy="336550"/>
          </a:xfrm>
          <a:prstGeom prst="ellipse">
            <a:avLst/>
          </a:prstGeom>
          <a:ln w="44450">
            <a:solidFill>
              <a:srgbClr val="6E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92053" y="3530600"/>
            <a:ext cx="417004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Margin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0906125" y="2768600"/>
            <a:ext cx="609600" cy="609600"/>
          </a:xfrm>
          <a:prstGeom prst="ellipse">
            <a:avLst/>
          </a:prstGeom>
          <a:solidFill>
            <a:srgbClr val="1A356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49000" y="2949575"/>
            <a:ext cx="76200" cy="247650"/>
          </a:xfrm>
          <a:prstGeom prst="rect">
            <a:avLst/>
          </a:prstGeom>
          <a:solidFill>
            <a:srgbClr val="6E93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72825" y="2978150"/>
            <a:ext cx="76200" cy="190500"/>
          </a:xfrm>
          <a:prstGeom prst="rect">
            <a:avLst/>
          </a:prstGeom>
          <a:solidFill>
            <a:srgbClr val="6E9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6650" y="3006725"/>
            <a:ext cx="76200" cy="133350"/>
          </a:xfrm>
          <a:prstGeom prst="rect">
            <a:avLst/>
          </a:prstGeom>
          <a:solidFill>
            <a:srgbClr val="6E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25903" y="3530600"/>
            <a:ext cx="417004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Cash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5039975" y="2768600"/>
            <a:ext cx="609600" cy="609600"/>
          </a:xfrm>
          <a:prstGeom prst="ellipse">
            <a:avLst/>
          </a:prstGeom>
          <a:solidFill>
            <a:srgbClr val="1A3560"/>
          </a:solidFill>
          <a:ln/>
        </p:spPr>
      </p:sp>
      <p:sp>
        <p:nvSpPr>
          <p:cNvPr id="17" name="Shape 15"/>
          <p:cNvSpPr/>
          <p:nvPr/>
        </p:nvSpPr>
        <p:spPr>
          <a:xfrm rot="2700000">
            <a:off x="15240000" y="2968625"/>
            <a:ext cx="209550" cy="209550"/>
          </a:xfrm>
          <a:prstGeom prst="rect">
            <a:avLst/>
          </a:prstGeom>
          <a:solidFill>
            <a:srgbClr val="6E93FF"/>
          </a:solidFill>
          <a:ln/>
        </p:spPr>
      </p:sp>
      <p:sp>
        <p:nvSpPr>
          <p:cNvPr id="18" name="Text 16"/>
          <p:cNvSpPr/>
          <p:nvPr/>
        </p:nvSpPr>
        <p:spPr>
          <a:xfrm>
            <a:off x="13259753" y="3530600"/>
            <a:ext cx="417004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047750" y="4343400"/>
            <a:ext cx="7829550" cy="1997670"/>
          </a:xfrm>
          <a:prstGeom prst="roundRect">
            <a:avLst>
              <a:gd name="adj" fmla="val 1907"/>
            </a:avLst>
          </a:prstGeom>
          <a:solidFill>
            <a:srgbClr val="122A4C"/>
          </a:solidFill>
          <a:ln/>
        </p:spPr>
      </p:sp>
      <p:sp>
        <p:nvSpPr>
          <p:cNvPr id="20" name="Text 18"/>
          <p:cNvSpPr/>
          <p:nvPr/>
        </p:nvSpPr>
        <p:spPr>
          <a:xfrm>
            <a:off x="1352550" y="4648200"/>
            <a:ext cx="794194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6E93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INTERESTING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352550" y="5022850"/>
            <a:ext cx="7941945" cy="41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D5DE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"Support tickets rose 18% across all categories this quarter."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410700" y="4343400"/>
            <a:ext cx="7829550" cy="1997670"/>
          </a:xfrm>
          <a:prstGeom prst="roundRect">
            <a:avLst>
              <a:gd name="adj" fmla="val 1907"/>
            </a:avLst>
          </a:prstGeom>
          <a:solidFill>
            <a:srgbClr val="122A4C"/>
          </a:solidFill>
          <a:ln/>
        </p:spPr>
      </p:sp>
      <p:sp>
        <p:nvSpPr>
          <p:cNvPr id="23" name="Text 21"/>
          <p:cNvSpPr/>
          <p:nvPr/>
        </p:nvSpPr>
        <p:spPr>
          <a:xfrm>
            <a:off x="9715500" y="4648200"/>
            <a:ext cx="794194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6E93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ACTIONABLE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715500" y="5022850"/>
            <a:ext cx="7436549" cy="78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D5DE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"Billing disputes drove 70% of the rise — reallocate two support seats there."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2A3D5C"/>
          </a:solidFill>
          <a:ln/>
        </p:spPr>
      </p:sp>
      <p:sp>
        <p:nvSpPr>
          <p:cNvPr id="26" name="Text 24"/>
          <p:cNvSpPr/>
          <p:nvPr/>
        </p:nvSpPr>
        <p:spPr>
          <a:xfrm>
            <a:off x="1047750" y="9245600"/>
            <a:ext cx="135007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6E93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ACTIVITY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2465586" y="9245600"/>
            <a:ext cx="961539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7D2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Convert a typical analyst chart into a CEO question and a recommended action.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81620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Module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965549" y="1079500"/>
            <a:ext cx="123279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45–60 min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1581150"/>
            <a:ext cx="1781175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Choosing the Right Chart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730500"/>
            <a:ext cx="3733800" cy="2463800"/>
          </a:xfrm>
          <a:prstGeom prst="roundRect">
            <a:avLst>
              <a:gd name="adj" fmla="val 1546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1314450" y="3663950"/>
            <a:ext cx="247650" cy="419100"/>
          </a:xfrm>
          <a:prstGeom prst="rect">
            <a:avLst/>
          </a:prstGeom>
          <a:solidFill>
            <a:srgbClr val="6E93FF"/>
          </a:solidFill>
          <a:ln/>
        </p:spPr>
      </p:sp>
      <p:sp>
        <p:nvSpPr>
          <p:cNvPr id="7" name="Shape 5"/>
          <p:cNvSpPr/>
          <p:nvPr/>
        </p:nvSpPr>
        <p:spPr>
          <a:xfrm>
            <a:off x="1695450" y="3349625"/>
            <a:ext cx="247650" cy="733425"/>
          </a:xfrm>
          <a:prstGeom prst="rect">
            <a:avLst/>
          </a:prstGeom>
          <a:solidFill>
            <a:srgbClr val="6E93FF"/>
          </a:solidFill>
          <a:ln/>
        </p:spPr>
      </p:sp>
      <p:sp>
        <p:nvSpPr>
          <p:cNvPr id="8" name="Shape 6"/>
          <p:cNvSpPr/>
          <p:nvPr/>
        </p:nvSpPr>
        <p:spPr>
          <a:xfrm>
            <a:off x="2076450" y="3506788"/>
            <a:ext cx="247650" cy="576263"/>
          </a:xfrm>
          <a:prstGeom prst="rect">
            <a:avLst/>
          </a:prstGeom>
          <a:solidFill>
            <a:srgbClr val="2E6BFF"/>
          </a:solidFill>
          <a:ln/>
        </p:spPr>
      </p:sp>
      <p:sp>
        <p:nvSpPr>
          <p:cNvPr id="9" name="Shape 7"/>
          <p:cNvSpPr/>
          <p:nvPr/>
        </p:nvSpPr>
        <p:spPr>
          <a:xfrm>
            <a:off x="2457450" y="3087688"/>
            <a:ext cx="247650" cy="995363"/>
          </a:xfrm>
          <a:prstGeom prst="rect">
            <a:avLst/>
          </a:prstGeom>
          <a:solidFill>
            <a:srgbClr val="2E6BFF"/>
          </a:solidFill>
          <a:ln/>
        </p:spPr>
      </p:sp>
      <p:sp>
        <p:nvSpPr>
          <p:cNvPr id="10" name="Text 8"/>
          <p:cNvSpPr/>
          <p:nvPr/>
        </p:nvSpPr>
        <p:spPr>
          <a:xfrm>
            <a:off x="1314450" y="4273550"/>
            <a:ext cx="352044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Bar / Column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314450" y="4610100"/>
            <a:ext cx="352044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Comparisons across categories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200650" y="2730500"/>
            <a:ext cx="3733800" cy="2463800"/>
          </a:xfrm>
          <a:prstGeom prst="roundRect">
            <a:avLst>
              <a:gd name="adj" fmla="val 1546"/>
            </a:avLst>
          </a:prstGeom>
          <a:solidFill>
            <a:srgbClr val="F5F7F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67350" y="3035300"/>
            <a:ext cx="3200400" cy="10477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67350" y="4311650"/>
            <a:ext cx="352044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Line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5467350" y="4648200"/>
            <a:ext cx="352044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Trends over time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9353550" y="2730500"/>
            <a:ext cx="3733800" cy="2463800"/>
          </a:xfrm>
          <a:prstGeom prst="roundRect">
            <a:avLst>
              <a:gd name="adj" fmla="val 1546"/>
            </a:avLst>
          </a:prstGeom>
          <a:solidFill>
            <a:srgbClr val="F5F7FA"/>
          </a:solidFill>
          <a:ln/>
        </p:spPr>
      </p:sp>
      <p:sp>
        <p:nvSpPr>
          <p:cNvPr id="17" name="Text 14"/>
          <p:cNvSpPr/>
          <p:nvPr/>
        </p:nvSpPr>
        <p:spPr>
          <a:xfrm>
            <a:off x="9620250" y="3257550"/>
            <a:ext cx="669529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64</a:t>
            </a:r>
            <a:endParaRPr lang="en-US" sz="4200" dirty="0"/>
          </a:p>
        </p:txBody>
      </p:sp>
      <p:sp>
        <p:nvSpPr>
          <p:cNvPr id="18" name="Text 15"/>
          <p:cNvSpPr/>
          <p:nvPr/>
        </p:nvSpPr>
        <p:spPr>
          <a:xfrm>
            <a:off x="10327879" y="3419475"/>
            <a:ext cx="74810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E9E5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▲ 8%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9620250" y="4273550"/>
            <a:ext cx="352044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KPI / Bullet card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9620250" y="4610100"/>
            <a:ext cx="352044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Status versus target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13506450" y="2730500"/>
            <a:ext cx="3733800" cy="2463800"/>
          </a:xfrm>
          <a:prstGeom prst="roundRect">
            <a:avLst>
              <a:gd name="adj" fmla="val 1546"/>
            </a:avLst>
          </a:prstGeom>
          <a:solidFill>
            <a:srgbClr val="F5F7FA"/>
          </a:solidFill>
          <a:ln/>
        </p:spPr>
      </p:sp>
      <p:sp>
        <p:nvSpPr>
          <p:cNvPr id="22" name="Shape 19"/>
          <p:cNvSpPr/>
          <p:nvPr/>
        </p:nvSpPr>
        <p:spPr>
          <a:xfrm>
            <a:off x="13773150" y="3244850"/>
            <a:ext cx="209550" cy="838200"/>
          </a:xfrm>
          <a:prstGeom prst="rect">
            <a:avLst/>
          </a:prstGeom>
          <a:solidFill>
            <a:srgbClr val="6E93FF"/>
          </a:solidFill>
          <a:ln/>
        </p:spPr>
      </p:sp>
      <p:sp>
        <p:nvSpPr>
          <p:cNvPr id="23" name="Shape 20"/>
          <p:cNvSpPr/>
          <p:nvPr/>
        </p:nvSpPr>
        <p:spPr>
          <a:xfrm>
            <a:off x="14116050" y="2168525"/>
            <a:ext cx="209550" cy="314325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24" name="Shape 21"/>
          <p:cNvSpPr/>
          <p:nvPr/>
        </p:nvSpPr>
        <p:spPr>
          <a:xfrm>
            <a:off x="14458950" y="1953320"/>
            <a:ext cx="209550" cy="209550"/>
          </a:xfrm>
          <a:prstGeom prst="rect">
            <a:avLst/>
          </a:prstGeom>
          <a:solidFill>
            <a:srgbClr val="D0483F"/>
          </a:solidFill>
          <a:ln/>
        </p:spPr>
      </p:sp>
      <p:sp>
        <p:nvSpPr>
          <p:cNvPr id="25" name="Shape 22"/>
          <p:cNvSpPr/>
          <p:nvPr/>
        </p:nvSpPr>
        <p:spPr>
          <a:xfrm>
            <a:off x="14801850" y="3087688"/>
            <a:ext cx="209550" cy="995363"/>
          </a:xfrm>
          <a:prstGeom prst="rect">
            <a:avLst/>
          </a:prstGeom>
          <a:solidFill>
            <a:srgbClr val="2E6BFF"/>
          </a:solidFill>
          <a:ln/>
        </p:spPr>
      </p:sp>
      <p:sp>
        <p:nvSpPr>
          <p:cNvPr id="26" name="Text 23"/>
          <p:cNvSpPr/>
          <p:nvPr/>
        </p:nvSpPr>
        <p:spPr>
          <a:xfrm>
            <a:off x="13773150" y="4273550"/>
            <a:ext cx="352044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Waterfall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3773150" y="4610100"/>
            <a:ext cx="352044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Drivers of change</a:t>
            </a:r>
            <a:endParaRPr lang="en-US" sz="1650" dirty="0"/>
          </a:p>
        </p:txBody>
      </p:sp>
      <p:sp>
        <p:nvSpPr>
          <p:cNvPr id="28" name="Shape 25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DCE3ED"/>
          </a:solidFill>
          <a:ln/>
        </p:spPr>
      </p:sp>
      <p:sp>
        <p:nvSpPr>
          <p:cNvPr id="29" name="Text 26"/>
          <p:cNvSpPr/>
          <p:nvPr/>
        </p:nvSpPr>
        <p:spPr>
          <a:xfrm>
            <a:off x="1047750" y="9245600"/>
            <a:ext cx="406068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 SPARINGLY OR AVOID:</a:t>
            </a:r>
            <a:endParaRPr lang="en-US" sz="1950" dirty="0"/>
          </a:p>
        </p:txBody>
      </p:sp>
      <p:sp>
        <p:nvSpPr>
          <p:cNvPr id="30" name="Text 27"/>
          <p:cNvSpPr/>
          <p:nvPr/>
        </p:nvSpPr>
        <p:spPr>
          <a:xfrm>
            <a:off x="4739283" y="9245600"/>
            <a:ext cx="682369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pie charts, 3D effects, dual axes, complex combo charts.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81620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Module 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965549" y="1079500"/>
            <a:ext cx="81954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60 min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1581150"/>
            <a:ext cx="1781175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Designing for Clarity in Five Minutes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692400"/>
            <a:ext cx="7829550" cy="24765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390650" y="3035300"/>
            <a:ext cx="785812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BEFORE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90650" y="3409950"/>
            <a:ext cx="785812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 by Region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390650" y="4397375"/>
            <a:ext cx="247650" cy="428625"/>
          </a:xfrm>
          <a:prstGeom prst="rect">
            <a:avLst/>
          </a:prstGeom>
          <a:solidFill>
            <a:srgbClr val="B9C3D6"/>
          </a:solidFill>
          <a:ln/>
        </p:spPr>
      </p:sp>
      <p:sp>
        <p:nvSpPr>
          <p:cNvPr id="9" name="Shape 7"/>
          <p:cNvSpPr/>
          <p:nvPr/>
        </p:nvSpPr>
        <p:spPr>
          <a:xfrm>
            <a:off x="1771650" y="4140200"/>
            <a:ext cx="247650" cy="685800"/>
          </a:xfrm>
          <a:prstGeom prst="rect">
            <a:avLst/>
          </a:prstGeom>
          <a:solidFill>
            <a:srgbClr val="B9C3D6"/>
          </a:solidFill>
          <a:ln/>
        </p:spPr>
      </p:sp>
      <p:sp>
        <p:nvSpPr>
          <p:cNvPr id="10" name="Shape 8"/>
          <p:cNvSpPr/>
          <p:nvPr/>
        </p:nvSpPr>
        <p:spPr>
          <a:xfrm>
            <a:off x="2152650" y="4525963"/>
            <a:ext cx="247650" cy="300038"/>
          </a:xfrm>
          <a:prstGeom prst="rect">
            <a:avLst/>
          </a:prstGeom>
          <a:solidFill>
            <a:srgbClr val="B9C3D6"/>
          </a:solidFill>
          <a:ln/>
        </p:spPr>
      </p:sp>
      <p:sp>
        <p:nvSpPr>
          <p:cNvPr id="11" name="Shape 9"/>
          <p:cNvSpPr/>
          <p:nvPr/>
        </p:nvSpPr>
        <p:spPr>
          <a:xfrm>
            <a:off x="2533650" y="4268788"/>
            <a:ext cx="247650" cy="557213"/>
          </a:xfrm>
          <a:prstGeom prst="rect">
            <a:avLst/>
          </a:prstGeom>
          <a:solidFill>
            <a:srgbClr val="B9C3D6"/>
          </a:solidFill>
          <a:ln/>
        </p:spPr>
      </p:sp>
      <p:sp>
        <p:nvSpPr>
          <p:cNvPr id="12" name="Shape 10"/>
          <p:cNvSpPr/>
          <p:nvPr/>
        </p:nvSpPr>
        <p:spPr>
          <a:xfrm>
            <a:off x="9410700" y="2692400"/>
            <a:ext cx="7829550" cy="2476500"/>
          </a:xfrm>
          <a:prstGeom prst="roundRect">
            <a:avLst>
              <a:gd name="adj" fmla="val 1538"/>
            </a:avLst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9753600" y="3035300"/>
            <a:ext cx="785812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6E93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AFTER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753600" y="3409950"/>
            <a:ext cx="785812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Q2 Revenue Up 12%, Driven by Region X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753600" y="4397375"/>
            <a:ext cx="247650" cy="428625"/>
          </a:xfrm>
          <a:prstGeom prst="rect">
            <a:avLst/>
          </a:prstGeom>
          <a:solidFill>
            <a:srgbClr val="3A4E7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34600" y="4525963"/>
            <a:ext cx="247650" cy="300038"/>
          </a:xfrm>
          <a:prstGeom prst="rect">
            <a:avLst/>
          </a:prstGeom>
          <a:solidFill>
            <a:srgbClr val="3A4E70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15600" y="4140200"/>
            <a:ext cx="247650" cy="685800"/>
          </a:xfrm>
          <a:prstGeom prst="rect">
            <a:avLst/>
          </a:prstGeom>
          <a:solidFill>
            <a:srgbClr val="6E9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96600" y="4268788"/>
            <a:ext cx="247650" cy="557213"/>
          </a:xfrm>
          <a:prstGeom prst="rect">
            <a:avLst/>
          </a:prstGeom>
          <a:solidFill>
            <a:srgbClr val="3A4E70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DCE3ED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" y="9245600"/>
            <a:ext cx="313441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 labels over legends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4468713" y="9245600"/>
            <a:ext cx="384622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primary color, one highlight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8536781" y="9245600"/>
            <a:ext cx="280098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Sort by value or priority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81620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Module 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965549" y="1079500"/>
            <a:ext cx="123279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60–90 min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1581150"/>
            <a:ext cx="1781175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Building Executive Dashboards &amp; One-Pagers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692400"/>
            <a:ext cx="3848100" cy="1390650"/>
          </a:xfrm>
          <a:prstGeom prst="roundRect">
            <a:avLst>
              <a:gd name="adj" fmla="val 2740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1314450" y="2959100"/>
            <a:ext cx="364617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14450" y="3295650"/>
            <a:ext cx="3646170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$4.8M </a:t>
            </a:r>
            <a:pPr algn="l" indent="0" marL="0">
              <a:buNone/>
            </a:pPr>
            <a:r>
              <a:rPr lang="en-US" sz="1650" b="1" dirty="0">
                <a:solidFill>
                  <a:srgbClr val="2E9E5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▲ 6%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162550" y="2692400"/>
            <a:ext cx="3848100" cy="1390650"/>
          </a:xfrm>
          <a:prstGeom prst="roundRect">
            <a:avLst>
              <a:gd name="adj" fmla="val 2740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5429250" y="2959100"/>
            <a:ext cx="364617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MARGIN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429250" y="3295650"/>
            <a:ext cx="3646170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31% </a:t>
            </a:r>
            <a:pPr algn="l" indent="0" marL="0">
              <a:buNone/>
            </a:pPr>
            <a:r>
              <a:rPr lang="en-US" sz="1650" b="1" dirty="0">
                <a:solidFill>
                  <a:srgbClr val="2E9E5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▲ 2pt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9277350" y="2692400"/>
            <a:ext cx="3848100" cy="1390650"/>
          </a:xfrm>
          <a:prstGeom prst="roundRect">
            <a:avLst>
              <a:gd name="adj" fmla="val 2740"/>
            </a:avLst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9544050" y="2959100"/>
            <a:ext cx="364617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CASH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544050" y="3295650"/>
            <a:ext cx="3646170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$1.2M </a:t>
            </a:r>
            <a:pPr algn="l" indent="0" marL="0">
              <a:buNone/>
            </a:pPr>
            <a:r>
              <a:rPr lang="en-US" sz="1650" b="1" dirty="0">
                <a:solidFill>
                  <a:srgbClr val="D0483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▼ 4%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13392150" y="2692400"/>
            <a:ext cx="3848100" cy="1390650"/>
          </a:xfrm>
          <a:prstGeom prst="roundRect">
            <a:avLst>
              <a:gd name="adj" fmla="val 2740"/>
            </a:avLst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13658850" y="2959100"/>
            <a:ext cx="364617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 SCORE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3658850" y="3295650"/>
            <a:ext cx="3646170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Low </a:t>
            </a:r>
            <a:pPr algn="l" indent="0" marL="0">
              <a:buNone/>
            </a:pPr>
            <a:r>
              <a:rPr lang="en-US" sz="1650" b="1" dirty="0">
                <a:solidFill>
                  <a:srgbClr val="2E9E5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▲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DCE3ED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9245600"/>
            <a:ext cx="516224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Drill-down: CEO summary → analyst detail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407448" y="9245600"/>
            <a:ext cx="351247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Filters: time, segment, region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267355" y="9245600"/>
            <a:ext cx="2877056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Callouts flag key events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81620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E93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Module 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965549" y="1079500"/>
            <a:ext cx="123279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FA3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45–60 min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1581150"/>
            <a:ext cx="1781175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Storytelling with Data for Executives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809625" y="2921000"/>
            <a:ext cx="52387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Situation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809625" y="3365500"/>
            <a:ext cx="52387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8FA3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 things stand today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115050" y="3086100"/>
            <a:ext cx="4191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6E93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524625" y="2921000"/>
            <a:ext cx="52387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Complication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524625" y="3365500"/>
            <a:ext cx="52387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8FA3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changed or is at risk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830050" y="3086100"/>
            <a:ext cx="4191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6E93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2239625" y="2921000"/>
            <a:ext cx="52387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Resolution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239625" y="3365500"/>
            <a:ext cx="52387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8FA3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recommendation, the ask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7750" y="8972550"/>
            <a:ext cx="16192500" cy="9525"/>
          </a:xfrm>
          <a:prstGeom prst="rect">
            <a:avLst/>
          </a:prstGeom>
          <a:solidFill>
            <a:srgbClr val="2A3D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9245600"/>
            <a:ext cx="135007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6E93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ACTIVITY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2465586" y="9245600"/>
            <a:ext cx="776721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7D2E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a three-slide mini-story: problem, insight, recommendation.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81620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Module 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965549" y="1079500"/>
            <a:ext cx="123279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60–90 min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1581150"/>
            <a:ext cx="1781175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Power BI–Specific Best Practices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825750"/>
            <a:ext cx="7715250" cy="25400"/>
          </a:xfrm>
          <a:prstGeom prst="rect">
            <a:avLst/>
          </a:prstGeom>
          <a:solidFill>
            <a:srgbClr val="2E6BFF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3098800"/>
            <a:ext cx="533400" cy="533400"/>
          </a:xfrm>
          <a:prstGeom prst="ellipse">
            <a:avLst/>
          </a:prstGeom>
          <a:solidFill>
            <a:srgbClr val="F5F7FA"/>
          </a:solidFill>
          <a:ln/>
        </p:spPr>
      </p:sp>
      <p:sp>
        <p:nvSpPr>
          <p:cNvPr id="7" name="Shape 5"/>
          <p:cNvSpPr/>
          <p:nvPr/>
        </p:nvSpPr>
        <p:spPr>
          <a:xfrm>
            <a:off x="1190625" y="3260725"/>
            <a:ext cx="57150" cy="209550"/>
          </a:xfrm>
          <a:prstGeom prst="rect">
            <a:avLst/>
          </a:prstGeom>
          <a:solidFill>
            <a:srgbClr val="2E6BFF"/>
          </a:solidFill>
          <a:ln/>
        </p:spPr>
      </p:sp>
      <p:sp>
        <p:nvSpPr>
          <p:cNvPr id="8" name="Shape 6"/>
          <p:cNvSpPr/>
          <p:nvPr/>
        </p:nvSpPr>
        <p:spPr>
          <a:xfrm>
            <a:off x="1285875" y="3260725"/>
            <a:ext cx="57150" cy="209550"/>
          </a:xfrm>
          <a:prstGeom prst="rect">
            <a:avLst/>
          </a:prstGeom>
          <a:solidFill>
            <a:srgbClr val="2E6BFF"/>
          </a:solidFill>
          <a:ln/>
        </p:spPr>
      </p:sp>
      <p:sp>
        <p:nvSpPr>
          <p:cNvPr id="9" name="Shape 7"/>
          <p:cNvSpPr/>
          <p:nvPr/>
        </p:nvSpPr>
        <p:spPr>
          <a:xfrm>
            <a:off x="1381125" y="3260725"/>
            <a:ext cx="57150" cy="209550"/>
          </a:xfrm>
          <a:prstGeom prst="rect">
            <a:avLst/>
          </a:prstGeom>
          <a:solidFill>
            <a:srgbClr val="2E6BFF"/>
          </a:solidFill>
          <a:ln/>
        </p:spPr>
      </p:sp>
      <p:sp>
        <p:nvSpPr>
          <p:cNvPr id="10" name="Text 8"/>
          <p:cNvSpPr/>
          <p:nvPr/>
        </p:nvSpPr>
        <p:spPr>
          <a:xfrm>
            <a:off x="1809750" y="3098800"/>
            <a:ext cx="654079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Page design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809750" y="3524250"/>
            <a:ext cx="654079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Concise titles, clear KPI cards, consistent layout grids.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25000" y="2825750"/>
            <a:ext cx="7715250" cy="25400"/>
          </a:xfrm>
          <a:prstGeom prst="rect">
            <a:avLst/>
          </a:prstGeom>
          <a:solidFill>
            <a:srgbClr val="2E6BFF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0" y="3098800"/>
            <a:ext cx="533400" cy="533400"/>
          </a:xfrm>
          <a:prstGeom prst="ellipse">
            <a:avLst/>
          </a:prstGeom>
          <a:solidFill>
            <a:srgbClr val="F5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9642475" y="3216275"/>
            <a:ext cx="298450" cy="298450"/>
          </a:xfrm>
          <a:prstGeom prst="ellipse">
            <a:avLst/>
          </a:prstGeom>
          <a:ln w="44450">
            <a:solidFill>
              <a:srgbClr val="2E6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87000" y="3098800"/>
            <a:ext cx="631018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Tooltips &amp; drill-through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0287000" y="3524250"/>
            <a:ext cx="631018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Keep detail off the main page; surface it on demand.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047750" y="4222750"/>
            <a:ext cx="7715250" cy="25400"/>
          </a:xfrm>
          <a:prstGeom prst="rect">
            <a:avLst/>
          </a:prstGeom>
          <a:solidFill>
            <a:srgbClr val="2E6B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47750" y="4495800"/>
            <a:ext cx="533400" cy="533400"/>
          </a:xfrm>
          <a:prstGeom prst="ellipse">
            <a:avLst/>
          </a:prstGeom>
          <a:solidFill>
            <a:srgbClr val="F5F7FA"/>
          </a:solidFill>
          <a:ln/>
        </p:spPr>
      </p:sp>
      <p:sp>
        <p:nvSpPr>
          <p:cNvPr id="19" name="Shape 17"/>
          <p:cNvSpPr/>
          <p:nvPr/>
        </p:nvSpPr>
        <p:spPr>
          <a:xfrm>
            <a:off x="1204913" y="4719638"/>
            <a:ext cx="85725" cy="85725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338263" y="4719638"/>
            <a:ext cx="85725" cy="85725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21" name="Text 19"/>
          <p:cNvSpPr/>
          <p:nvPr/>
        </p:nvSpPr>
        <p:spPr>
          <a:xfrm>
            <a:off x="1809750" y="4495800"/>
            <a:ext cx="726800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Bookmarks &amp; navigation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809750" y="4921250"/>
            <a:ext cx="726800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Simple toggles — Actuals vs. Budget, Current vs. Prior Year.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25000" y="4222750"/>
            <a:ext cx="7715250" cy="25400"/>
          </a:xfrm>
          <a:prstGeom prst="rect">
            <a:avLst/>
          </a:prstGeom>
          <a:solidFill>
            <a:srgbClr val="2E6B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525000" y="4495800"/>
            <a:ext cx="533400" cy="533400"/>
          </a:xfrm>
          <a:prstGeom prst="ellipse">
            <a:avLst/>
          </a:prstGeom>
          <a:solidFill>
            <a:srgbClr val="F5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9690100" y="4673600"/>
            <a:ext cx="203200" cy="177800"/>
          </a:xfrm>
          <a:prstGeom prst="rect">
            <a:avLst/>
          </a:prstGeom>
          <a:solidFill>
            <a:srgbClr val="2E6B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287000" y="4495800"/>
            <a:ext cx="681987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Performance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0287000" y="4921250"/>
            <a:ext cx="681987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Avoid overloaded pages; prioritize speed and readability.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2E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HANDOUTS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09700"/>
            <a:ext cx="1781175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Template Patterns to Provide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047750" y="2597150"/>
            <a:ext cx="5118100" cy="6927850"/>
          </a:xfrm>
          <a:prstGeom prst="roundRect">
            <a:avLst>
              <a:gd name="adj" fmla="val 74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90650" y="2940050"/>
            <a:ext cx="48755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Strategy Scorecard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90650" y="3321050"/>
            <a:ext cx="487553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KPIs versus targets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0650" y="7981950"/>
            <a:ext cx="2149475" cy="533400"/>
          </a:xfrm>
          <a:prstGeom prst="roundRect">
            <a:avLst>
              <a:gd name="adj" fmla="val 5357"/>
            </a:avLst>
          </a:prstGeom>
          <a:solidFill>
            <a:srgbClr val="F5F7FA"/>
          </a:solidFill>
          <a:ln/>
        </p:spPr>
      </p:sp>
      <p:sp>
        <p:nvSpPr>
          <p:cNvPr id="8" name="Shape 6"/>
          <p:cNvSpPr/>
          <p:nvPr/>
        </p:nvSpPr>
        <p:spPr>
          <a:xfrm>
            <a:off x="3673475" y="7981950"/>
            <a:ext cx="2149475" cy="533400"/>
          </a:xfrm>
          <a:prstGeom prst="roundRect">
            <a:avLst>
              <a:gd name="adj" fmla="val 5357"/>
            </a:avLst>
          </a:prstGeom>
          <a:solidFill>
            <a:srgbClr val="F5F7FA"/>
          </a:solidFill>
          <a:ln/>
        </p:spPr>
      </p:sp>
      <p:sp>
        <p:nvSpPr>
          <p:cNvPr id="9" name="Shape 7"/>
          <p:cNvSpPr/>
          <p:nvPr/>
        </p:nvSpPr>
        <p:spPr>
          <a:xfrm>
            <a:off x="1390650" y="8648700"/>
            <a:ext cx="2149475" cy="533400"/>
          </a:xfrm>
          <a:prstGeom prst="roundRect">
            <a:avLst>
              <a:gd name="adj" fmla="val 5357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3673475" y="8648700"/>
            <a:ext cx="2149475" cy="533400"/>
          </a:xfrm>
          <a:prstGeom prst="roundRect">
            <a:avLst>
              <a:gd name="adj" fmla="val 5357"/>
            </a:avLst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6584950" y="2597150"/>
            <a:ext cx="5118100" cy="6927850"/>
          </a:xfrm>
          <a:prstGeom prst="roundRect">
            <a:avLst>
              <a:gd name="adj" fmla="val 744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927850" y="2940050"/>
            <a:ext cx="48755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Performance Trend Page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927850" y="3321050"/>
            <a:ext cx="487553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metrics over time</a:t>
            </a:r>
            <a:endParaRPr lang="en-US" sz="16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27850" y="8229600"/>
            <a:ext cx="4432300" cy="9525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2122151" y="2597150"/>
            <a:ext cx="5118100" cy="6927850"/>
          </a:xfrm>
          <a:prstGeom prst="roundRect">
            <a:avLst>
              <a:gd name="adj" fmla="val 744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12465051" y="2940050"/>
            <a:ext cx="48755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Driver Analysis Page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2465051" y="3321050"/>
            <a:ext cx="487553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Waterfall or bar decomposition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2465051" y="8515350"/>
            <a:ext cx="228600" cy="666750"/>
          </a:xfrm>
          <a:prstGeom prst="rect">
            <a:avLst/>
          </a:prstGeom>
          <a:solidFill>
            <a:srgbClr val="6E93FF"/>
          </a:solidFill>
          <a:ln/>
        </p:spPr>
      </p:sp>
      <p:sp>
        <p:nvSpPr>
          <p:cNvPr id="19" name="Shape 16"/>
          <p:cNvSpPr/>
          <p:nvPr/>
        </p:nvSpPr>
        <p:spPr>
          <a:xfrm>
            <a:off x="12827001" y="6680200"/>
            <a:ext cx="228600" cy="28575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20" name="Shape 17"/>
          <p:cNvSpPr/>
          <p:nvPr/>
        </p:nvSpPr>
        <p:spPr>
          <a:xfrm>
            <a:off x="13188951" y="6553895"/>
            <a:ext cx="228600" cy="190500"/>
          </a:xfrm>
          <a:prstGeom prst="rect">
            <a:avLst/>
          </a:prstGeom>
          <a:solidFill>
            <a:srgbClr val="D0483F"/>
          </a:solidFill>
          <a:ln/>
        </p:spPr>
      </p:sp>
      <p:sp>
        <p:nvSpPr>
          <p:cNvPr id="21" name="Shape 18"/>
          <p:cNvSpPr/>
          <p:nvPr/>
        </p:nvSpPr>
        <p:spPr>
          <a:xfrm>
            <a:off x="13550901" y="8324850"/>
            <a:ext cx="228600" cy="857250"/>
          </a:xfrm>
          <a:prstGeom prst="rect">
            <a:avLst/>
          </a:prstGeom>
          <a:solidFill>
            <a:srgbClr val="2E6BF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6E93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409700"/>
            <a:ext cx="1781175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By the End of This Course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047750" y="2749550"/>
            <a:ext cx="5518150" cy="6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6E93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47750" y="3498850"/>
            <a:ext cx="551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Pick the right chart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" y="3898900"/>
            <a:ext cx="55181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FA3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 the question, not just the data on hand.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635750" y="2749550"/>
            <a:ext cx="5518150" cy="6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6E93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635750" y="3498850"/>
            <a:ext cx="551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Design for thirty seconds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635750" y="3898900"/>
            <a:ext cx="55181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FA3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Insight titles, direct labels, one accent color.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223750" y="2749550"/>
            <a:ext cx="5518150" cy="6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6E93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2223750" y="3498850"/>
            <a:ext cx="551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Tell a simple story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223750" y="3898900"/>
            <a:ext cx="5166995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FA3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Situation, complication, resolution and an ask.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77825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2E6B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 STEP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4273550"/>
            <a:ext cx="14716125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85"/>
              </a:lnSpc>
              <a:buNone/>
            </a:pPr>
            <a:r>
              <a:rPr lang="en-US" sz="4500" b="1" dirty="0">
                <a:solidFill>
                  <a:srgbClr val="12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Bring a live dataset — we'll build your first one-page CEO dashboard together.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6159500"/>
            <a:ext cx="178117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B8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Module 4 Activity · Power BI or Excel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2026-07-17T20:21:53Z</dcterms:created>
  <dcterms:modified xsi:type="dcterms:W3CDTF">2026-07-17T20:21:53Z</dcterms:modified>
</cp:coreProperties>
</file>